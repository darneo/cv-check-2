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15"/>
    <p:sldId id="265" r:id="rId16"/>
    <p:sldId id="266" r:id="rId17"/>
    <p:sldId id="267" r:id="rId18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aster_rcnn.jp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yolov8.jp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yolov11.jp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comparison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2976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85953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28930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71907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14884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57860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00837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3814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6791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9768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72744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42976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85953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128930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171907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214884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" y="257860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300837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343814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" y="386791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429768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" y="472744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71600" y="42976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85953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128930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71600" y="171907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0" y="214884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71600" y="257860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71600" y="300837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71600" y="343814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71600" y="386791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0" y="429768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71600" y="472744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28800" y="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28800" y="42976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28800" y="85953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28800" y="128930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28800" y="171907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28800" y="214884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28800" y="257860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28800" y="300837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28800" y="343814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28800" y="386791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28800" y="429768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28800" y="472744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86000" y="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86000" y="42976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86000" y="85953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86000" y="128930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86000" y="171907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86000" y="214884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86000" y="257860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86000" y="300837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86000" y="343814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86000" y="386791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86000" y="429768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86000" y="472744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43200" y="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0" y="42976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0" y="85953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43200" y="128930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43200" y="171907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43200" y="214884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43200" y="257860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43200" y="300837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43200" y="343814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43200" y="386791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43200" y="429768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0" y="472744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00400" y="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00400" y="42976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00400" y="85953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00400" y="128930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00400" y="171907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200400" y="214884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200400" y="257860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200400" y="300837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200400" y="343814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200400" y="386791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200400" y="429768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200400" y="472744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57600" y="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657600" y="42976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57600" y="85953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657600" y="128930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657600" y="171907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657600" y="214884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57600" y="257860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57600" y="300837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57600" y="343814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57600" y="386791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657600" y="429768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57600" y="472744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114800" y="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14800" y="42976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14800" y="85953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114800" y="128930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114800" y="171907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114800" y="214884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114800" y="257860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14800" y="300837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14800" y="343814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14800" y="386791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14800" y="429768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14800" y="472744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72000" y="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72000" y="42976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72000" y="85953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572000" y="128930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572000" y="171907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72000" y="214884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572000" y="257860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572000" y="300837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572000" y="343814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72000" y="386791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72000" y="429768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72000" y="472744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29200" y="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029200" y="42976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29200" y="85953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029200" y="128930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29200" y="171907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029200" y="214884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29200" y="257860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29200" y="300837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29200" y="343814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029200" y="386791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29200" y="429768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029200" y="472744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86400" y="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86400" y="42976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486400" y="85953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86400" y="128930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86400" y="171907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486400" y="214884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86400" y="257860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486400" y="300837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486400" y="343814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86400" y="386791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86400" y="429768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486400" y="472744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943600" y="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943600" y="42976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943600" y="85953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943600" y="128930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43600" y="171907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943600" y="214884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943600" y="257860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943600" y="300837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943600" y="343814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943600" y="386791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943600" y="429768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943600" y="472744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400800" y="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400800" y="42976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400800" y="85953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400800" y="128930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400800" y="171907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400800" y="214884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400800" y="257860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400800" y="300837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400800" y="343814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400800" y="386791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400800" y="429768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400800" y="472744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858000" y="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58000" y="42976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858000" y="85953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858000" y="128930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858000" y="171907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858000" y="214884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858000" y="257860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858000" y="300837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858000" y="343814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858000" y="386791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58000" y="429768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858000" y="472744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315200" y="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15200" y="42976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15200" y="85953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315200" y="128930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315200" y="171907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315200" y="214884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315200" y="257860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315200" y="300837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315200" y="343814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315200" y="386791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315200" y="429768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315200" y="472744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772400" y="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772400" y="42976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772400" y="85953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772400" y="128930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772400" y="171907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772400" y="214884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772400" y="257860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772400" y="300837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772400" y="343814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772400" y="386791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772400" y="429768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772400" y="472744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229600" y="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229600" y="42976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229600" y="85953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229600" y="128930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229600" y="171907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229600" y="214884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229600" y="257860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229600" y="300837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29600" y="343814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29600" y="386791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229600" y="429768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229600" y="472744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686800" y="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686800" y="42976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686800" y="85953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686800" y="128930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86800" y="171907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686800" y="214884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686800" y="257860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686800" y="3008376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686800" y="3438144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686800" y="3867912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686800" y="4297680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686800" y="4727448"/>
            <a:ext cx="36576" cy="36576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30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6583680" y="457200"/>
            <a:ext cx="137160" cy="13716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7132320" y="914400"/>
            <a:ext cx="137160" cy="13716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7680960" y="640080"/>
            <a:ext cx="137160" cy="13716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229600" y="1188720"/>
            <a:ext cx="137160" cy="13716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6858000" y="1371600"/>
            <a:ext cx="137160" cy="13716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046720" y="274320"/>
            <a:ext cx="137160" cy="13716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503920" y="731520"/>
            <a:ext cx="137160" cy="13716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6583680" y="521208"/>
            <a:ext cx="612648" cy="457200"/>
          </a:xfrm>
          <a:prstGeom prst="line">
            <a:avLst/>
          </a:prstGeom>
          <a:noFill/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7132320" y="978408"/>
            <a:ext cx="612648" cy="-274320"/>
          </a:xfrm>
          <a:prstGeom prst="line">
            <a:avLst/>
          </a:prstGeom>
          <a:noFill/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7680960" y="704088"/>
            <a:ext cx="612648" cy="548640"/>
          </a:xfrm>
          <a:prstGeom prst="line">
            <a:avLst/>
          </a:prstGeom>
          <a:noFill/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6858000" y="1435608"/>
            <a:ext cx="1234440" cy="-246888"/>
          </a:xfrm>
          <a:prstGeom prst="line">
            <a:avLst/>
          </a:prstGeom>
          <a:noFill/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6858000" y="2560320"/>
            <a:ext cx="1828800" cy="1828800"/>
          </a:xfrm>
          <a:prstGeom prst="rect">
            <a:avLst/>
          </a:prstGeom>
          <a:solidFill>
            <a:srgbClr val="070B1A"/>
          </a:solidFill>
          <a:ln w="12700">
            <a:solidFill>
              <a:srgbClr val="070B1A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7223760" y="2651760"/>
            <a:ext cx="1097280" cy="13716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7040880" y="2514600"/>
            <a:ext cx="1463040" cy="1737360"/>
          </a:xfrm>
          <a:prstGeom prst="rect">
            <a:avLst/>
          </a:prstGeom>
          <a:solidFill>
            <a:srgbClr val="00FF00">
              <a:alpha val="8000"/>
            </a:srgbClr>
          </a:solidFill>
          <a:ln w="25400">
            <a:solidFill>
              <a:srgbClr val="00CC00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040880" y="2514600"/>
            <a:ext cx="868680" cy="201168"/>
          </a:xfrm>
          <a:prstGeom prst="rect">
            <a:avLst/>
          </a:prstGeom>
          <a:solidFill>
            <a:srgbClr val="00CC00"/>
          </a:solidFill>
          <a:ln w="12700">
            <a:solidFill>
              <a:srgbClr val="00CC00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7059168" y="25237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70B1A"/>
                </a:solidFill>
              </a:rPr>
              <a:t>WITH MASK</a:t>
            </a:r>
            <a:endParaRPr lang="en-US" sz="600" dirty="0"/>
          </a:p>
        </p:txBody>
      </p:sp>
      <p:sp>
        <p:nvSpPr>
          <p:cNvPr id="260" name="Shape 258"/>
          <p:cNvSpPr/>
          <p:nvPr/>
        </p:nvSpPr>
        <p:spPr>
          <a:xfrm>
            <a:off x="7955280" y="3108960"/>
            <a:ext cx="777240" cy="914400"/>
          </a:xfrm>
          <a:prstGeom prst="rect">
            <a:avLst/>
          </a:prstGeom>
          <a:solidFill>
            <a:srgbClr val="FF0000">
              <a:alpha val="8000"/>
            </a:srgbClr>
          </a:solidFill>
          <a:ln w="25400">
            <a:solidFill>
              <a:srgbClr val="FF4444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955280" y="3108960"/>
            <a:ext cx="77724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7973568" y="31181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NO MASK</a:t>
            </a:r>
            <a:endParaRPr lang="en-US" sz="600" dirty="0"/>
          </a:p>
        </p:txBody>
      </p:sp>
      <p:sp>
        <p:nvSpPr>
          <p:cNvPr id="263" name="Text 261"/>
          <p:cNvSpPr/>
          <p:nvPr/>
        </p:nvSpPr>
        <p:spPr>
          <a:xfrm>
            <a:off x="365760" y="8229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 MASK DETECTION</a:t>
            </a:r>
            <a:endParaRPr lang="en-US" sz="3800" dirty="0"/>
          </a:p>
        </p:txBody>
      </p:sp>
      <p:sp>
        <p:nvSpPr>
          <p:cNvPr id="264" name="Text 262"/>
          <p:cNvSpPr/>
          <p:nvPr/>
        </p:nvSpPr>
        <p:spPr>
          <a:xfrm>
            <a:off x="365760" y="1508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Deep Learning</a:t>
            </a:r>
            <a:endParaRPr lang="en-US" sz="2800" dirty="0"/>
          </a:p>
        </p:txBody>
      </p:sp>
      <p:sp>
        <p:nvSpPr>
          <p:cNvPr id="265" name="Shape 263"/>
          <p:cNvSpPr/>
          <p:nvPr/>
        </p:nvSpPr>
        <p:spPr>
          <a:xfrm>
            <a:off x="365760" y="2148840"/>
            <a:ext cx="41148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365760" y="2286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Study of YOLOv8, YOLOv11 &amp; Faster R-CNN Models</a:t>
            </a:r>
            <a:endParaRPr lang="en-US" sz="1400" dirty="0"/>
          </a:p>
        </p:txBody>
      </p:sp>
      <p:sp>
        <p:nvSpPr>
          <p:cNvPr id="267" name="Shape 265"/>
          <p:cNvSpPr/>
          <p:nvPr/>
        </p:nvSpPr>
        <p:spPr>
          <a:xfrm>
            <a:off x="365760" y="3017520"/>
            <a:ext cx="1417320" cy="777240"/>
          </a:xfrm>
          <a:prstGeom prst="rect">
            <a:avLst/>
          </a:prstGeom>
          <a:solidFill>
            <a:srgbClr val="312E81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268" name="Text 266"/>
          <p:cNvSpPr/>
          <p:nvPr/>
        </p:nvSpPr>
        <p:spPr>
          <a:xfrm>
            <a:off x="411480" y="30632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3 Models</a:t>
            </a:r>
            <a:endParaRPr lang="en-US" sz="1300" dirty="0"/>
          </a:p>
        </p:txBody>
      </p:sp>
      <p:sp>
        <p:nvSpPr>
          <p:cNvPr id="269" name="Text 267"/>
          <p:cNvSpPr/>
          <p:nvPr/>
        </p:nvSpPr>
        <p:spPr>
          <a:xfrm>
            <a:off x="411480" y="33375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Compared</a:t>
            </a:r>
            <a:endParaRPr lang="en-US" sz="900" dirty="0"/>
          </a:p>
        </p:txBody>
      </p:sp>
      <p:sp>
        <p:nvSpPr>
          <p:cNvPr id="270" name="Shape 268"/>
          <p:cNvSpPr/>
          <p:nvPr/>
        </p:nvSpPr>
        <p:spPr>
          <a:xfrm>
            <a:off x="1965960" y="3017520"/>
            <a:ext cx="1417320" cy="777240"/>
          </a:xfrm>
          <a:prstGeom prst="rect">
            <a:avLst/>
          </a:prstGeom>
          <a:solidFill>
            <a:srgbClr val="312E81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271" name="Text 269"/>
          <p:cNvSpPr/>
          <p:nvPr/>
        </p:nvSpPr>
        <p:spPr>
          <a:xfrm>
            <a:off x="2011680" y="30632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Object</a:t>
            </a:r>
            <a:endParaRPr lang="en-US" sz="1300" dirty="0"/>
          </a:p>
        </p:txBody>
      </p:sp>
      <p:sp>
        <p:nvSpPr>
          <p:cNvPr id="272" name="Text 270"/>
          <p:cNvSpPr/>
          <p:nvPr/>
        </p:nvSpPr>
        <p:spPr>
          <a:xfrm>
            <a:off x="2011680" y="33375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Detection</a:t>
            </a:r>
            <a:endParaRPr lang="en-US" sz="900" dirty="0"/>
          </a:p>
        </p:txBody>
      </p:sp>
      <p:sp>
        <p:nvSpPr>
          <p:cNvPr id="273" name="Shape 271"/>
          <p:cNvSpPr/>
          <p:nvPr/>
        </p:nvSpPr>
        <p:spPr>
          <a:xfrm>
            <a:off x="3566160" y="3017520"/>
            <a:ext cx="1417320" cy="777240"/>
          </a:xfrm>
          <a:prstGeom prst="rect">
            <a:avLst/>
          </a:prstGeom>
          <a:solidFill>
            <a:srgbClr val="312E81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274" name="Text 272"/>
          <p:cNvSpPr/>
          <p:nvPr/>
        </p:nvSpPr>
        <p:spPr>
          <a:xfrm>
            <a:off x="3611880" y="30632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BBox</a:t>
            </a:r>
            <a:endParaRPr lang="en-US" sz="1300" dirty="0"/>
          </a:p>
        </p:txBody>
      </p:sp>
      <p:sp>
        <p:nvSpPr>
          <p:cNvPr id="275" name="Text 273"/>
          <p:cNvSpPr/>
          <p:nvPr/>
        </p:nvSpPr>
        <p:spPr>
          <a:xfrm>
            <a:off x="3611880" y="33375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Prediction</a:t>
            </a:r>
            <a:endParaRPr lang="en-US" sz="900" dirty="0"/>
          </a:p>
        </p:txBody>
      </p:sp>
      <p:sp>
        <p:nvSpPr>
          <p:cNvPr id="276" name="Shape 274"/>
          <p:cNvSpPr/>
          <p:nvPr/>
        </p:nvSpPr>
        <p:spPr>
          <a:xfrm>
            <a:off x="5166360" y="3017520"/>
            <a:ext cx="1417320" cy="777240"/>
          </a:xfrm>
          <a:prstGeom prst="rect">
            <a:avLst/>
          </a:prstGeom>
          <a:solidFill>
            <a:srgbClr val="312E81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277" name="Text 275"/>
          <p:cNvSpPr/>
          <p:nvPr/>
        </p:nvSpPr>
        <p:spPr>
          <a:xfrm>
            <a:off x="5212080" y="30632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Real-time</a:t>
            </a:r>
            <a:endParaRPr lang="en-US" sz="1300" dirty="0"/>
          </a:p>
        </p:txBody>
      </p:sp>
      <p:sp>
        <p:nvSpPr>
          <p:cNvPr id="278" name="Text 276"/>
          <p:cNvSpPr/>
          <p:nvPr/>
        </p:nvSpPr>
        <p:spPr>
          <a:xfrm>
            <a:off x="5212080" y="33375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vs Accuracy</a:t>
            </a:r>
            <a:endParaRPr lang="en-US" sz="900" dirty="0"/>
          </a:p>
        </p:txBody>
      </p:sp>
      <p:sp>
        <p:nvSpPr>
          <p:cNvPr id="279" name="Text 277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Deep Learning  •  Computer Vision  •  Object Detection  •  AI Research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Objective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412480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3931920" cy="1920240"/>
          </a:xfrm>
          <a:prstGeom prst="rect">
            <a:avLst/>
          </a:prstGeom>
          <a:solidFill>
            <a:srgbClr val="162037"/>
          </a:solidFill>
          <a:ln w="12700">
            <a:solidFill>
              <a:srgbClr val="4F2D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3931920" cy="320040"/>
          </a:xfrm>
          <a:prstGeom prst="rect">
            <a:avLst/>
          </a:prstGeom>
          <a:solidFill>
            <a:srgbClr val="4F2D8A"/>
          </a:solidFill>
          <a:ln w="12700">
            <a:solidFill>
              <a:srgbClr val="4F2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86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WHY AUTOMATED DETECTION?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</a:rPr>
              <a:t>• COVID-era mandates &amp; public safety enforcement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</a:rPr>
              <a:t>• Manual monitoring is error-prone &amp; unscalable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</a:rPr>
              <a:t>• Detection ≠ Classification: localize + label masks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</a:rPr>
              <a:t>• Bounding box output enables spatial analysis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868680"/>
            <a:ext cx="4389120" cy="1920240"/>
          </a:xfrm>
          <a:prstGeom prst="rect">
            <a:avLst/>
          </a:prstGeom>
          <a:solidFill>
            <a:srgbClr val="1620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868680"/>
            <a:ext cx="4389120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8869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0B1A"/>
                </a:solidFill>
              </a:rPr>
              <a:t>OBJECTIVES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23444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</a:rPr>
              <a:t>✦ Compare YOLOv8, YOLOv11, Faster R-CNN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</a:rPr>
              <a:t>✦ Evaluate: Precision, Recall, mAP@50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</a:rPr>
              <a:t>✦ Analyze speed vs. accuracy trade-offs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</a:rPr>
              <a:t>✦ Identify best model per use case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DETECTION PIPELINE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200400"/>
            <a:ext cx="192024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322783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 Image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48840" y="3538728"/>
            <a:ext cx="25603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3502152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04872" y="3200400"/>
            <a:ext cx="192024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50592" y="322783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Deep Learning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25112" y="3538728"/>
            <a:ext cx="25603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07992" y="3502152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81144" y="3200400"/>
            <a:ext cx="192024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26864" y="322783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Bounding Boxes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 Labels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01384" y="3538728"/>
            <a:ext cx="25603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84264" y="3502152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57416" y="3200400"/>
            <a:ext cx="19202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03136" y="322783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Evaluation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4206240"/>
            <a:ext cx="192024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2336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Precision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04872" y="4206240"/>
            <a:ext cx="192024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0592" y="42336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Recall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81144" y="4206240"/>
            <a:ext cx="192024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42336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mAP@50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57416" y="4206240"/>
            <a:ext cx="192024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03136" y="42336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FPS / Speed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KEY METRICS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Preprocessing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412480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011680" cy="1005840"/>
          </a:xfrm>
          <a:prstGeom prst="rect">
            <a:avLst/>
          </a:prstGeom>
          <a:solidFill>
            <a:srgbClr val="1620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Images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~853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8880" y="868680"/>
            <a:ext cx="2011680" cy="1005840"/>
          </a:xfrm>
          <a:prstGeom prst="rect">
            <a:avLst/>
          </a:prstGeom>
          <a:solidFill>
            <a:srgbClr val="16203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Classes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 (Mask / No Mask)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868680"/>
            <a:ext cx="2011680" cy="1005840"/>
          </a:xfrm>
          <a:prstGeom prst="rect">
            <a:avLst/>
          </a:prstGeom>
          <a:solidFill>
            <a:srgbClr val="1620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Format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BBox Annotations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868680"/>
            <a:ext cx="2011680" cy="1005840"/>
          </a:xfrm>
          <a:prstGeom prst="rect">
            <a:avLst/>
          </a:prstGeom>
          <a:solidFill>
            <a:srgbClr val="1620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Split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4944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 / Validation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ANNOTATED SAMPLE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347472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423160"/>
            <a:ext cx="822960" cy="9144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340864"/>
            <a:ext cx="960120" cy="1143000"/>
          </a:xfrm>
          <a:prstGeom prst="rect">
            <a:avLst/>
          </a:prstGeom>
          <a:solidFill>
            <a:srgbClr val="00FF00">
              <a:alpha val="12000"/>
            </a:srgbClr>
          </a:solidFill>
          <a:ln w="25400">
            <a:solidFill>
              <a:srgbClr val="00CC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2340864"/>
            <a:ext cx="960120" cy="201168"/>
          </a:xfrm>
          <a:prstGeom prst="rect">
            <a:avLst/>
          </a:prstGeom>
          <a:solidFill>
            <a:srgbClr val="00CC00"/>
          </a:solidFill>
          <a:ln w="12700">
            <a:solidFill>
              <a:srgbClr val="00C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23500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70B1A"/>
                </a:solidFill>
              </a:rPr>
              <a:t>mask  0.97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1828800" y="2468880"/>
            <a:ext cx="777240" cy="8686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64792" y="2395728"/>
            <a:ext cx="914400" cy="1097280"/>
          </a:xfrm>
          <a:prstGeom prst="rect">
            <a:avLst/>
          </a:prstGeom>
          <a:solidFill>
            <a:srgbClr val="FF0000">
              <a:alpha val="12000"/>
            </a:srgbClr>
          </a:solidFill>
          <a:ln w="25400">
            <a:solidFill>
              <a:srgbClr val="F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64792" y="2395728"/>
            <a:ext cx="91440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83080" y="240487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no_mask 0.91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2926080" y="2468880"/>
            <a:ext cx="640080" cy="82296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4640" y="2395728"/>
            <a:ext cx="822960" cy="1051560"/>
          </a:xfrm>
          <a:prstGeom prst="rect">
            <a:avLst/>
          </a:prstGeom>
          <a:solidFill>
            <a:srgbClr val="00FF00">
              <a:alpha val="12000"/>
            </a:srgbClr>
          </a:solidFill>
          <a:ln w="25400">
            <a:solidFill>
              <a:srgbClr val="00CC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34640" y="2395728"/>
            <a:ext cx="822960" cy="201168"/>
          </a:xfrm>
          <a:prstGeom prst="rect">
            <a:avLst/>
          </a:prstGeom>
          <a:solidFill>
            <a:srgbClr val="00CC00"/>
          </a:solidFill>
          <a:ln w="12700">
            <a:solidFill>
              <a:srgbClr val="00C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52928" y="24048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70B1A"/>
                </a:solidFill>
              </a:rPr>
              <a:t>mask  0.94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274320" y="4617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Sample bounding box annotations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023360" y="2011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DATA PREPROCESSING PIPELINE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023360" y="2286000"/>
            <a:ext cx="347472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1A"/>
                </a:solidFill>
              </a:rPr>
              <a:t>01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34840" y="2286000"/>
            <a:ext cx="44805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2304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Raw Images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80560" y="2459736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Diverse real-world photos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041648" y="26334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↓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023360" y="2798064"/>
            <a:ext cx="347472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0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1A"/>
                </a:solidFill>
              </a:rPr>
              <a:t>02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434840" y="2798064"/>
            <a:ext cx="44805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0560" y="28163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Annotation Parsing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80560" y="297180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XML/JSON bbox extraction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041648" y="314553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↓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023360" y="3310128"/>
            <a:ext cx="347472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23360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1A"/>
                </a:solidFill>
              </a:rPr>
              <a:t>03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434840" y="3310128"/>
            <a:ext cx="44805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80560" y="33284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Resize &amp; Normalize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480560" y="348386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640×640 / 416×416 px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041648" y="365760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↓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023360" y="3822192"/>
            <a:ext cx="347472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2336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1A"/>
                </a:solidFill>
              </a:rPr>
              <a:t>04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434840" y="3822192"/>
            <a:ext cx="44805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80560" y="38404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Train/Val Split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480560" y="399592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80% / 20% ratio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041648" y="416966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↓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023360" y="4334256"/>
            <a:ext cx="347472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23360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B1A"/>
                </a:solidFill>
              </a:rPr>
              <a:t>05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434840" y="4334256"/>
            <a:ext cx="44805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80560" y="43525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Batch Loading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480560" y="450799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DataLoader with augmentation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YOLO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0" y="182880"/>
            <a:ext cx="20116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201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ONE-STAGE DETECTOR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8412480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2788920" cy="1051560"/>
          </a:xfrm>
          <a:prstGeom prst="rect">
            <a:avLst/>
          </a:prstGeom>
          <a:solidFill>
            <a:srgbClr val="16203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04672"/>
            <a:ext cx="54864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41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Grid-based Prediction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11556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</a:rPr>
              <a:t>Divides image into S×S grid cells, each predicting boxes + confidence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804672"/>
            <a:ext cx="2788920" cy="1051560"/>
          </a:xfrm>
          <a:prstGeom prst="rect">
            <a:avLst/>
          </a:prstGeom>
          <a:solidFill>
            <a:srgbClr val="16203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804672"/>
            <a:ext cx="54864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841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Anchor Boxes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11556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</a:rPr>
              <a:t>Predefined aspect ratios for multi-scale object detection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804672"/>
            <a:ext cx="2788920" cy="1051560"/>
          </a:xfrm>
          <a:prstGeom prst="rect">
            <a:avLst/>
          </a:prstGeom>
          <a:solidFill>
            <a:srgbClr val="1620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804672"/>
            <a:ext cx="54864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841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Single Forward Pass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111556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</a:rPr>
              <a:t>Entire detection in one pass — ultra-fast inference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1965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ARCHITECTURE PIPELINE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2240280"/>
            <a:ext cx="20116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28600" y="23042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FDBFE"/>
                </a:solidFill>
              </a:rPr>
              <a:t>640×640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194560" y="2697480"/>
            <a:ext cx="228600" cy="54864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1720" y="2642616"/>
            <a:ext cx="109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E8F9"/>
                </a:solidFill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23160" y="2240280"/>
            <a:ext cx="2011680" cy="1005840"/>
          </a:xfrm>
          <a:prstGeom prst="rect">
            <a:avLst/>
          </a:prstGeom>
          <a:solidFill>
            <a:srgbClr val="4F2D8A"/>
          </a:solidFill>
          <a:ln w="12700">
            <a:solidFill>
              <a:srgbClr val="4F2D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468880" y="23042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Backbone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(CSPDarknet)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FDBFE"/>
                </a:solidFill>
              </a:rPr>
              <a:t>Feature Extraction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434840" y="2697480"/>
            <a:ext cx="228600" cy="54864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2642616"/>
            <a:ext cx="109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E8F9"/>
                </a:solidFill>
              </a:rPr>
              <a:t>▶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240280"/>
            <a:ext cx="201168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09160" y="23042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(PANet/FPN)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FDBFE"/>
                </a:solidFill>
              </a:rPr>
              <a:t>Multi-scale Features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675120" y="2697480"/>
            <a:ext cx="228600" cy="54864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2642616"/>
            <a:ext cx="109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E8F9"/>
                </a:solidFill>
              </a:rPr>
              <a:t>▶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03720" y="2240280"/>
            <a:ext cx="2011680" cy="10058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49440" y="23042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Detection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Head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4944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FDBFE"/>
                </a:solidFill>
              </a:rPr>
              <a:t>Cls + BBox + Conf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74320" y="3383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YOLOv8 vs YOLOv11 KEY IMPROVEMENTS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3657600"/>
            <a:ext cx="2743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657600"/>
            <a:ext cx="274320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6758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YOLOv8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3931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→ C2f bottleneck modules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65760" y="41513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→ Anchor-free detection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65760" y="4370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→ Strong mAP baseline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65760" y="45902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→ Fast inference speed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46120" y="3657600"/>
            <a:ext cx="2743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46120" y="3657600"/>
            <a:ext cx="2743200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36758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0B1A"/>
                </a:solidFill>
              </a:rPr>
              <a:t>YOLOv11 (Improved)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337560" y="3931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→ Enhanced C3k2 blocks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337560" y="41513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→ Improved SPPF module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337560" y="4370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→ Better small-object recall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337560" y="45902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→ Higher mAP@50 scores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17920" y="3657600"/>
            <a:ext cx="2743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17920" y="3657600"/>
            <a:ext cx="274320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63640" y="36758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0B1A"/>
                </a:solidFill>
              </a:rPr>
              <a:t>Why YOLO?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309360" y="3931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→ Real-time surveillance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309360" y="41513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→ Edge deployment ready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309360" y="4370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→ Low compute footprint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309360" y="45902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→ One-stage simplicity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R-CNN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675120" y="182880"/>
            <a:ext cx="2194560" cy="41148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0" y="201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TWO-STAGE DETECTOR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8412480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3931920" cy="292608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1: Region Proposal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34840" y="804672"/>
            <a:ext cx="438912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8046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STAGE 2: Classification &amp; Regression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" y="1170432"/>
            <a:ext cx="1115568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4592" y="123444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61872" y="161848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7E8F9"/>
                </a:solidFill>
              </a:rPr>
              <a:t>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399032" y="1170432"/>
            <a:ext cx="1115568" cy="1051560"/>
          </a:xfrm>
          <a:prstGeom prst="rect">
            <a:avLst/>
          </a:prstGeom>
          <a:solidFill>
            <a:srgbClr val="4F2D8A"/>
          </a:solidFill>
          <a:ln w="12700">
            <a:solidFill>
              <a:srgbClr val="4F2D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26464" y="123444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CNN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Backbone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(ResNet)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23744" y="161848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7E8F9"/>
                </a:solidFill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60904" y="1170432"/>
            <a:ext cx="1115568" cy="105156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88336" y="123444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85616" y="161848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7E8F9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922776" y="1170432"/>
            <a:ext cx="1115568" cy="10515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50208" y="123444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RPN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(Region Proposals)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47488" y="161848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7E8F9"/>
                </a:solidFill>
              </a:rPr>
              <a:t>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184648" y="1170432"/>
            <a:ext cx="1115568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212080" y="123444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Pooling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161848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7E8F9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46520" y="1170432"/>
            <a:ext cx="1115568" cy="10515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5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73952" y="123444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Fully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Connected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71232" y="1618488"/>
            <a:ext cx="1097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7E8F9"/>
                </a:solidFill>
              </a:rPr>
              <a:t>▶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708392" y="1170432"/>
            <a:ext cx="1115568" cy="10515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5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35824" y="1234440"/>
            <a:ext cx="1060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BBox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+ Class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Output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23774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REGION PROPOSAL NETWORK (RPN)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651760"/>
            <a:ext cx="3931920" cy="1508760"/>
          </a:xfrm>
          <a:prstGeom prst="rect">
            <a:avLst/>
          </a:prstGeom>
          <a:solidFill>
            <a:srgbClr val="162037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274320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27249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</a:rPr>
              <a:t>Slides anchor boxes over feature map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06324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0449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</a:rPr>
              <a:t>Generates ~2000 region proposals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" y="338328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3649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</a:rPr>
              <a:t>Scores each: object vs. background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" y="370332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685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</a:rPr>
              <a:t>Feeds top proposals to Stage 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434840" y="23774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KEY ATTRIBUTES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34840" y="2651760"/>
            <a:ext cx="438912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34840" y="2651760"/>
            <a:ext cx="54864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26791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Higher Precision: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035040" y="26883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</a:rPr>
              <a:t>Two-stage verification reduces false positives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434840" y="3017520"/>
            <a:ext cx="438912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34840" y="3017520"/>
            <a:ext cx="54864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0" y="30449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Computationally Heavy: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035040" y="3054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</a:rPr>
              <a:t>Slower inference: ~5–15 FPS typical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434840" y="3383280"/>
            <a:ext cx="438912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434840" y="3383280"/>
            <a:ext cx="54864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0" y="34107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</a:rPr>
              <a:t>Dense Scene Accuracy: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035040" y="3419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</a:rPr>
              <a:t>Handles overlapping objects well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434840" y="3749040"/>
            <a:ext cx="438912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34840" y="3749040"/>
            <a:ext cx="54864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0" y="3776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Not Real-time Ready: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035040" y="37856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</a:rPr>
              <a:t>Suited for batch/offline processing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74320" y="4526280"/>
            <a:ext cx="3931920" cy="32004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" y="4544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Accuracy-First Approach — Best in class precision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434840" y="4526280"/>
            <a:ext cx="43891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80560" y="45445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E7FF"/>
                </a:solidFill>
              </a:rPr>
              <a:t>Trade-off: Speed sacrificed for detection quality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412480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809244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</a:rPr>
              <a:t>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0" y="822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</a:rPr>
              <a:t>Precision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11880" y="822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</a:rPr>
              <a:t>Recall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83480" y="822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</a:rPr>
              <a:t>mAP@50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8229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</a:rPr>
              <a:t>Inf. Speed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261872"/>
            <a:ext cx="809244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YOLOv8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40280" y="1280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7FF"/>
                </a:solidFill>
              </a:rPr>
              <a:t>0.891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1280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7FF"/>
                </a:solidFill>
              </a:rPr>
              <a:t>0.872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280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7FF"/>
                </a:solidFill>
              </a:rPr>
              <a:t>0.896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1280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7FF"/>
                </a:solidFill>
              </a:rPr>
              <a:t>87 FPS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1810512"/>
            <a:ext cx="8092440" cy="502920"/>
          </a:xfrm>
          <a:prstGeom prst="rect">
            <a:avLst/>
          </a:prstGeom>
          <a:solidFill>
            <a:srgbClr val="1C2E4A"/>
          </a:solidFill>
          <a:ln w="19050">
            <a:solidFill>
              <a:srgbClr val="67E8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810512"/>
            <a:ext cx="54864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YOLOv11 (Improved)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4028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0.921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1188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0.904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0.928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74 FPS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2359152"/>
            <a:ext cx="809244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Faster R-CNN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4028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7FF"/>
                </a:solidFill>
              </a:rPr>
              <a:t>0.943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1188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7FF"/>
                </a:solidFill>
              </a:rPr>
              <a:t>0.918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7FF"/>
                </a:solidFill>
              </a:rPr>
              <a:t>0.951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2377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7FF"/>
                </a:solidFill>
              </a:rPr>
              <a:t>14 FPS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2971800"/>
            <a:ext cx="3657600" cy="292608"/>
          </a:xfrm>
          <a:prstGeom prst="rect">
            <a:avLst/>
          </a:prstGeom>
          <a:solidFill>
            <a:srgbClr val="1453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99008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★  YOLOv11 best balance: accuracy + speed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2971800"/>
            <a:ext cx="425196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0520" y="2990088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★  Faster R-CNN: highest raw accuracy metrics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3401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mAP@50 COMPARISON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3909682"/>
            <a:ext cx="1097280" cy="75375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394625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0.896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28600" y="46908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YOLOv8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490472" y="3882762"/>
            <a:ext cx="1097280" cy="78067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90472" y="391933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0.928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490472" y="46908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YOLOv11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52344" y="3863413"/>
            <a:ext cx="1097280" cy="800027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52344" y="3899989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0.951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752344" y="46908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F-RCNN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89120" y="34015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INFERENCE SPEED (FPS)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389120" y="3822192"/>
            <a:ext cx="1234440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0" y="38587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87 FPS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389120" y="46908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YOLOv8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897880" y="3947896"/>
            <a:ext cx="1234440" cy="71554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97880" y="39844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74 FPS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897880" y="46908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YOLOv11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406640" y="4528067"/>
            <a:ext cx="1234440" cy="13537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06640" y="4564643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14 FPS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406640" y="46908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F-RCNN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Comparative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412480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788920" cy="2103120"/>
          </a:xfrm>
          <a:prstGeom prst="rect">
            <a:avLst/>
          </a:prstGeom>
          <a:solidFill>
            <a:srgbClr val="111827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7889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50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0B1A"/>
                </a:solidFill>
              </a:rPr>
              <a:t>⚡ YOLOv8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841248"/>
            <a:ext cx="749808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8412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REAL-TIME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84048" y="130759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280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7FF"/>
                </a:solidFill>
              </a:rPr>
              <a:t>One-stage detector — single pass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165506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6276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7FF"/>
                </a:solidFill>
              </a:rPr>
              <a:t>~87 FPS on GPU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00253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7510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7FF"/>
                </a:solidFill>
              </a:rPr>
              <a:t>mAP@50: 0.896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35000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3225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7FF"/>
                </a:solidFill>
              </a:rPr>
              <a:t>Ideal for live surveillance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822960"/>
            <a:ext cx="2788920" cy="2103120"/>
          </a:xfrm>
          <a:prstGeom prst="rect">
            <a:avLst/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822960"/>
            <a:ext cx="278892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850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0B1A"/>
                </a:solidFill>
              </a:rPr>
              <a:t>★ YOLOv11 (Improved)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12080" y="841248"/>
            <a:ext cx="749808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8412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BEST BALANCE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355848" y="130759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1280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7FF"/>
                </a:solidFill>
              </a:rPr>
              <a:t>Enhanced architecture modules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55848" y="165506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16276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7FF"/>
                </a:solidFill>
              </a:rPr>
              <a:t>~74 FPS on GPU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55848" y="200253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197510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7FF"/>
                </a:solidFill>
              </a:rPr>
              <a:t>mAP@50: 0.928 (+3.6% vs v8)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55848" y="235000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23225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7FF"/>
                </a:solidFill>
              </a:rPr>
              <a:t>Recommended for production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822960"/>
            <a:ext cx="2788920" cy="2103120"/>
          </a:xfrm>
          <a:prstGeom prst="rect">
            <a:avLst/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822960"/>
            <a:ext cx="278892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850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0B1A"/>
                </a:solidFill>
              </a:rPr>
              <a:t>🎯 Faster R-CNN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83880" y="841248"/>
            <a:ext cx="749808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83880" y="8412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 ACCURACY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327648" y="130759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1280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7FF"/>
                </a:solidFill>
              </a:rPr>
              <a:t>Two-stage: RPN + classifier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27648" y="1655064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16276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7FF"/>
                </a:solidFill>
              </a:rPr>
              <a:t>~14 FPS on GPU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27648" y="200253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197510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7FF"/>
                </a:solidFill>
              </a:rPr>
              <a:t>mAP@50: 0.951 (highest)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327648" y="235000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23225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7FF"/>
                </a:solidFill>
              </a:rPr>
              <a:t>Best for critical systems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74320" y="30358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SPEED vs. ACCURACY TRADE-OFF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3383280"/>
            <a:ext cx="822960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4564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SPEED  ◀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315200" y="34564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▶  ACCURACY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97280" y="3264408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3566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YOLOv8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297680" y="3264408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0" y="3566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YOLOv11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132320" y="3264408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9440" y="3566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Faster R-CNN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74320" y="3840480"/>
            <a:ext cx="420624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4320" y="3840480"/>
            <a:ext cx="54864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38587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💡  YOLO models are 5–6× faster than Faster R-CNN for real-time use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709160" y="3840480"/>
            <a:ext cx="420624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9160" y="3840480"/>
            <a:ext cx="54864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0" y="38587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💡  Faster R-CNN achieves 5–6% higher mAP due to two-stage verification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74320" y="4343400"/>
            <a:ext cx="420624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4320" y="4343400"/>
            <a:ext cx="54864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1480" y="43616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💡  YOLOv11 bridges the gap — improved accuracy with manageable speed loss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709160" y="4343400"/>
            <a:ext cx="420624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09160" y="4343400"/>
            <a:ext cx="54864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6320" y="43616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💡  Model choice depends on deployment constraints, not just raw accuracy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914400"/>
            <a:ext cx="3657600" cy="365760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8412480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CONCLUSIONS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4069080" cy="420624"/>
          </a:xfrm>
          <a:prstGeom prst="rect">
            <a:avLst/>
          </a:prstGeom>
          <a:solidFill>
            <a:srgbClr val="1620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5214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1338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E8F9"/>
                </a:solidFill>
              </a:rPr>
              <a:t xml:space="preserve">Real-time systems: 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12984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</a:rPr>
              <a:t>→ YOLOv8 / YOLOv11 — fast, deployable, production-ready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591056"/>
            <a:ext cx="4069080" cy="420624"/>
          </a:xfrm>
          <a:prstGeom prst="rect">
            <a:avLst/>
          </a:prstGeom>
          <a:solidFill>
            <a:srgbClr val="1620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64592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1627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E8F9"/>
                </a:solidFill>
              </a:rPr>
              <a:t xml:space="preserve">Accuracy-critical: 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" y="17922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</a:rPr>
              <a:t>→ Faster R-CNN — highest precision for critical applications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084832"/>
            <a:ext cx="4069080" cy="420624"/>
          </a:xfrm>
          <a:prstGeom prst="rect">
            <a:avLst/>
          </a:prstGeom>
          <a:solidFill>
            <a:srgbClr val="1620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139696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21214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E8F9"/>
                </a:solidFill>
              </a:rPr>
              <a:t xml:space="preserve">Best overall: 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" y="22860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</a:rPr>
              <a:t>→ YOLOv11 balances accuracy + speed (mAP: 0.928, 74 FPS)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578608"/>
            <a:ext cx="4069080" cy="420624"/>
          </a:xfrm>
          <a:prstGeom prst="rect">
            <a:avLst/>
          </a:prstGeom>
          <a:solidFill>
            <a:srgbClr val="1620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63347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26151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E8F9"/>
                </a:solidFill>
              </a:rPr>
              <a:t xml:space="preserve">All models: 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" y="27797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7FF"/>
                </a:solidFill>
              </a:rPr>
              <a:t>→ Achieve &gt;87% precision on face mask detection task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8046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FUTURE WORK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097280"/>
            <a:ext cx="4297680" cy="420624"/>
          </a:xfrm>
          <a:prstGeom prst="rect">
            <a:avLst/>
          </a:prstGeom>
          <a:solidFill>
            <a:srgbClr val="1620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1097280"/>
            <a:ext cx="329184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1097280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56048" y="11247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Larger &amp; Diverse Dataset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56048" y="12984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Expand to 10k+ images across varied environments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0" y="1591056"/>
            <a:ext cx="4297680" cy="420624"/>
          </a:xfrm>
          <a:prstGeom prst="rect">
            <a:avLst/>
          </a:prstGeom>
          <a:solidFill>
            <a:srgbClr val="1620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1591056"/>
            <a:ext cx="329184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1591056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56048" y="16184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Model Optimization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56048" y="17922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TensorRT, quantization &amp; pruning for efficiency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0" y="2084832"/>
            <a:ext cx="4297680" cy="420624"/>
          </a:xfrm>
          <a:prstGeom prst="rect">
            <a:avLst/>
          </a:prstGeom>
          <a:solidFill>
            <a:srgbClr val="1620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0" y="2084832"/>
            <a:ext cx="329184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2084832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56048" y="21122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Edge Deployment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56048" y="22860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Mobile / iOS / ONNX export for embedded systems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0" y="2578608"/>
            <a:ext cx="4297680" cy="420624"/>
          </a:xfrm>
          <a:prstGeom prst="rect">
            <a:avLst/>
          </a:prstGeom>
          <a:solidFill>
            <a:srgbClr val="1620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0" y="2578608"/>
            <a:ext cx="329184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2578608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56048" y="26060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Real-time Surveillance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56048" y="27797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Integration with CCTV for smart monitoring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0" y="3072384"/>
            <a:ext cx="4297680" cy="420624"/>
          </a:xfrm>
          <a:prstGeom prst="rect">
            <a:avLst/>
          </a:prstGeom>
          <a:solidFill>
            <a:srgbClr val="16203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0" y="3072384"/>
            <a:ext cx="329184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3072384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56048" y="3099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Ensemble Approaches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956048" y="32735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E7FF"/>
                </a:solidFill>
              </a:rPr>
              <a:t>Combine YOLO speed + R-CNN precision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4320" y="4160520"/>
            <a:ext cx="8503920" cy="658368"/>
          </a:xfrm>
          <a:prstGeom prst="rect">
            <a:avLst/>
          </a:prstGeom>
          <a:solidFill>
            <a:srgbClr val="312E81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74320" y="4160520"/>
            <a:ext cx="73152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05088" y="4160520"/>
            <a:ext cx="73152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67E8F9"/>
                </a:solidFill>
              </a:rPr>
              <a:t>"Efficient model selection is driven by application constraints, not just accuracy."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itle"/>
          <p:cNvSpPr/>
          <p:nvPr/>
        </p:nvSpPr>
        <p:spPr>
          <a:xfrm>
            <a:off x="228600" y="91440"/>
            <a:ext cx="8686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</a:rPr>
              <a:t>Faster R-CNN — Training Loss</a:t>
            </a:r>
          </a:p>
        </p:txBody>
      </p:sp>
      <p:sp>
        <p:nvSpPr>
          <p:cNvPr id="5" name="Subtitle"/>
          <p:cNvSpPr/>
          <p:nvPr/>
        </p:nvSpPr>
        <p:spPr>
          <a:xfrm>
            <a:off x="228600" y="640080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A78BFA"/>
                </a:solidFill>
                <a:latin typeface="Calibri"/>
              </a:rPr>
              <a:t>Consistent convergence from 0.42 to 0.1156 over 10 epochs</a:t>
            </a:r>
          </a:p>
        </p:txBody>
      </p:sp>
      <p:pic>
        <p:nvPicPr>
          <p:cNvPr id="6" name="Chart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86868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itle"/>
          <p:cNvSpPr/>
          <p:nvPr/>
        </p:nvSpPr>
        <p:spPr>
          <a:xfrm>
            <a:off x="228600" y="91440"/>
            <a:ext cx="8686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</a:rPr>
              <a:t>YOLOv8 — Training Metrics</a:t>
            </a:r>
          </a:p>
        </p:txBody>
      </p:sp>
      <p:sp>
        <p:nvSpPr>
          <p:cNvPr id="5" name="Subtitle"/>
          <p:cNvSpPr/>
          <p:nvPr/>
        </p:nvSpPr>
        <p:spPr>
          <a:xfrm>
            <a:off x="228600" y="640080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A78BFA"/>
                </a:solidFill>
                <a:latin typeface="Calibri"/>
              </a:rPr>
              <a:t>Training &amp; validation losses declining; precision and mAP improving steadily over 20 epochs</a:t>
            </a:r>
          </a:p>
        </p:txBody>
      </p:sp>
      <p:pic>
        <p:nvPicPr>
          <p:cNvPr id="6" name="Chart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86868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itle"/>
          <p:cNvSpPr/>
          <p:nvPr/>
        </p:nvSpPr>
        <p:spPr>
          <a:xfrm>
            <a:off x="228600" y="91440"/>
            <a:ext cx="8686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</a:rPr>
              <a:t>YOLOv11 Baseline — Training Metrics</a:t>
            </a:r>
          </a:p>
        </p:txBody>
      </p:sp>
      <p:sp>
        <p:nvSpPr>
          <p:cNvPr id="5" name="Subtitle"/>
          <p:cNvSpPr/>
          <p:nvPr/>
        </p:nvSpPr>
        <p:spPr>
          <a:xfrm>
            <a:off x="228600" y="640080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A78BFA"/>
                </a:solidFill>
                <a:latin typeface="Calibri"/>
              </a:rPr>
              <a:t>Baseline YOLOv11 training metrics over 20 epochs — best mAP50 = 0.7647</a:t>
            </a:r>
          </a:p>
        </p:txBody>
      </p:sp>
      <p:pic>
        <p:nvPicPr>
          <p:cNvPr id="6" name="Chart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86868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" name="Title"/>
          <p:cNvSpPr/>
          <p:nvPr/>
        </p:nvSpPr>
        <p:spPr>
          <a:xfrm>
            <a:off x="228600" y="91440"/>
            <a:ext cx="8686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Trebuchet MS"/>
              </a:rPr>
              <a:t>YOLOv11 Baseline vs Improved — Comparison</a:t>
            </a:r>
          </a:p>
        </p:txBody>
      </p:sp>
      <p:sp>
        <p:nvSpPr>
          <p:cNvPr id="5" name="Subtitle"/>
          <p:cNvSpPr/>
          <p:nvPr/>
        </p:nvSpPr>
        <p:spPr>
          <a:xfrm>
            <a:off x="228600" y="640080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A78BFA"/>
                </a:solidFill>
                <a:latin typeface="Calibri"/>
              </a:rPr>
              <a:t>Improved model slightly below baseline (mAP50: 0.7388 vs 0.7647) — further tuning recommended</a:t>
            </a:r>
          </a:p>
        </p:txBody>
      </p:sp>
      <p:pic>
        <p:nvPicPr>
          <p:cNvPr id="6" name="Chart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8686800" cy="3931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Deep Learning</dc:title>
  <dc:subject>PptxGenJS Presentation</dc:subject>
  <dc:creator>PptxGenJS</dc:creator>
  <cp:lastModifiedBy>PptxGenJS</cp:lastModifiedBy>
  <cp:revision>1</cp:revision>
  <dcterms:created xsi:type="dcterms:W3CDTF">2026-05-04T07:50:57Z</dcterms:created>
  <dcterms:modified xsi:type="dcterms:W3CDTF">2026-05-04T07:50:57Z</dcterms:modified>
</cp:coreProperties>
</file>